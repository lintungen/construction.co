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6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75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471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490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97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414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618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19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195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465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58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274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5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F8F9D-92D5-4247-B352-4F4520A3A0BE}" type="datetimeFigureOut">
              <a:rPr lang="zh-TW" altLang="en-US" smtClean="0"/>
              <a:t>10/24/2022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A3B-0C66-4E5E-99DD-AE80583E1AA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30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角矩形 3"/>
          <p:cNvSpPr/>
          <p:nvPr/>
        </p:nvSpPr>
        <p:spPr>
          <a:xfrm>
            <a:off x="1331640" y="447776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5" name="圓角矩形 4"/>
          <p:cNvSpPr/>
          <p:nvPr/>
        </p:nvSpPr>
        <p:spPr>
          <a:xfrm>
            <a:off x="1331640" y="509877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6" name="圓角矩形 5"/>
          <p:cNvSpPr/>
          <p:nvPr/>
        </p:nvSpPr>
        <p:spPr>
          <a:xfrm>
            <a:off x="1331640" y="5728563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7" name="圓角矩形 6"/>
          <p:cNvSpPr/>
          <p:nvPr/>
        </p:nvSpPr>
        <p:spPr>
          <a:xfrm>
            <a:off x="1866181" y="447776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1866181" y="509877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1866181" y="5728563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410247" y="447776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 dirty="0"/>
          </a:p>
        </p:txBody>
      </p:sp>
      <p:sp>
        <p:nvSpPr>
          <p:cNvPr id="11" name="圓角矩形 10"/>
          <p:cNvSpPr/>
          <p:nvPr/>
        </p:nvSpPr>
        <p:spPr>
          <a:xfrm>
            <a:off x="2410247" y="509877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2" name="圓角矩形 11"/>
          <p:cNvSpPr/>
          <p:nvPr/>
        </p:nvSpPr>
        <p:spPr>
          <a:xfrm>
            <a:off x="2410247" y="5728563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3" name="圓角矩形 12"/>
          <p:cNvSpPr/>
          <p:nvPr/>
        </p:nvSpPr>
        <p:spPr>
          <a:xfrm>
            <a:off x="2944788" y="447776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4" name="圓角矩形 13"/>
          <p:cNvSpPr/>
          <p:nvPr/>
        </p:nvSpPr>
        <p:spPr>
          <a:xfrm>
            <a:off x="2944788" y="509877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5" name="圓角矩形 14"/>
          <p:cNvSpPr/>
          <p:nvPr/>
        </p:nvSpPr>
        <p:spPr>
          <a:xfrm>
            <a:off x="2944788" y="5728563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6" name="圓角矩形 15"/>
          <p:cNvSpPr/>
          <p:nvPr/>
        </p:nvSpPr>
        <p:spPr>
          <a:xfrm>
            <a:off x="3498379" y="447776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7" name="圓角矩形 16"/>
          <p:cNvSpPr/>
          <p:nvPr/>
        </p:nvSpPr>
        <p:spPr>
          <a:xfrm>
            <a:off x="3498379" y="509877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8" name="圓角矩形 17"/>
          <p:cNvSpPr/>
          <p:nvPr/>
        </p:nvSpPr>
        <p:spPr>
          <a:xfrm>
            <a:off x="3498379" y="5728563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19" name="圓角矩形 18"/>
          <p:cNvSpPr/>
          <p:nvPr/>
        </p:nvSpPr>
        <p:spPr>
          <a:xfrm>
            <a:off x="4045843" y="447776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0" name="圓角矩形 19"/>
          <p:cNvSpPr/>
          <p:nvPr/>
        </p:nvSpPr>
        <p:spPr>
          <a:xfrm>
            <a:off x="4045843" y="5098772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4045843" y="5728563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29" name="圓角矩形 28"/>
          <p:cNvSpPr/>
          <p:nvPr/>
        </p:nvSpPr>
        <p:spPr>
          <a:xfrm>
            <a:off x="3498379" y="4477761"/>
            <a:ext cx="238125" cy="3333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 b="1" dirty="0" smtClean="0">
                <a:solidFill>
                  <a:srgbClr val="FF0000"/>
                </a:solidFill>
              </a:rPr>
              <a:t>3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3" name="圓角矩形 32"/>
          <p:cNvSpPr/>
          <p:nvPr/>
        </p:nvSpPr>
        <p:spPr>
          <a:xfrm>
            <a:off x="1866180" y="5729493"/>
            <a:ext cx="238125" cy="3333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sz="1600" b="1" dirty="0" smtClean="0">
                <a:solidFill>
                  <a:srgbClr val="FF0000"/>
                </a:solidFill>
              </a:rPr>
              <a:t>3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552307" y="69269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zh-TW" sz="2400" b="1" dirty="0">
                <a:latin typeface="微軟正黑體" pitchFamily="34" charset="-120"/>
                <a:ea typeface="微軟正黑體" pitchFamily="34" charset="-120"/>
              </a:rPr>
              <a:t>記憶力翻牌</a:t>
            </a:r>
            <a:endParaRPr lang="zh-TW" altLang="en-US" sz="24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139403" y="1268760"/>
            <a:ext cx="7609061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A.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採兩組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PK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賽制，直到分出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1~4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名為止。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>B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.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剪刀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石頭布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zh-TW" altLang="en-US" sz="1400" b="1" dirty="0">
                <a:latin typeface="微軟正黑體" pitchFamily="34" charset="-120"/>
                <a:ea typeface="微軟正黑體" pitchFamily="34" charset="-120"/>
              </a:rPr>
              <a:t>決定優先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順序，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贏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的隊伍可選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先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攻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或後</a:t>
            </a:r>
            <a:r>
              <a:rPr lang="zh-TW" altLang="en-US" sz="1400" b="1" dirty="0">
                <a:latin typeface="微軟正黑體" pitchFamily="34" charset="-120"/>
                <a:ea typeface="微軟正黑體" pitchFamily="34" charset="-120"/>
              </a:rPr>
              <a:t>攻。</a:t>
            </a:r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.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隊伍內的人輪流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玩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所有人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包含自己隊友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都不可提示正在翻牌的人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D.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翻開檯面上兩張牌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，同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數字同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色即可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湊對，不同顏色同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數字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則不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成立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</a:b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>E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.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順利拿到一對的人可繼續翻兩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張</a:t>
            </a:r>
            <a:r>
              <a:rPr lang="zh-TW" altLang="en-US" sz="1400" b="1" dirty="0">
                <a:latin typeface="微軟正黑體" pitchFamily="34" charset="-120"/>
                <a:ea typeface="微軟正黑體" pitchFamily="34" charset="-120"/>
              </a:rPr>
              <a:t>牌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，直到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失敗再換人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F.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翻開來沒湊對的撲克牌要蓋回去。</a:t>
            </a:r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</a:b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>G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.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全部撲克牌翻完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，拿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到最多對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獲勝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zh-TW" altLang="zh-TW" sz="14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8" name="圓角矩形圖說文字 37"/>
          <p:cNvSpPr/>
          <p:nvPr/>
        </p:nvSpPr>
        <p:spPr>
          <a:xfrm>
            <a:off x="4788024" y="4477762"/>
            <a:ext cx="3240360" cy="1080120"/>
          </a:xfrm>
          <a:prstGeom prst="wedgeRoundRectCallout">
            <a:avLst>
              <a:gd name="adj1" fmla="val -60855"/>
              <a:gd name="adj2" fmla="val -336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相同數字且同顏色可湊成一對 </a:t>
            </a:r>
            <a:r>
              <a:rPr lang="en-US" altLang="zh-TW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O</a:t>
            </a:r>
            <a:endParaRPr lang="zh-TW" altLang="en-US" sz="1600" b="1" dirty="0">
              <a:solidFill>
                <a:srgbClr val="FF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3498378" y="4477760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41" name="圓角矩形 40"/>
          <p:cNvSpPr/>
          <p:nvPr/>
        </p:nvSpPr>
        <p:spPr>
          <a:xfrm>
            <a:off x="1866179" y="5729493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42" name="圓角矩形 41"/>
          <p:cNvSpPr/>
          <p:nvPr/>
        </p:nvSpPr>
        <p:spPr>
          <a:xfrm>
            <a:off x="2410247" y="5098772"/>
            <a:ext cx="238125" cy="3333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</a:rPr>
              <a:t>8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43" name="圓角矩形 42"/>
          <p:cNvSpPr/>
          <p:nvPr/>
        </p:nvSpPr>
        <p:spPr>
          <a:xfrm>
            <a:off x="2944787" y="5728562"/>
            <a:ext cx="238125" cy="33337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b="1" dirty="0" smtClean="0">
                <a:solidFill>
                  <a:schemeClr val="tx1"/>
                </a:solidFill>
              </a:rPr>
              <a:t>8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4427984" y="4333746"/>
            <a:ext cx="3672408" cy="13948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圓角矩形圖說文字 44"/>
          <p:cNvSpPr/>
          <p:nvPr/>
        </p:nvSpPr>
        <p:spPr>
          <a:xfrm>
            <a:off x="4860032" y="4608480"/>
            <a:ext cx="3240360" cy="1251731"/>
          </a:xfrm>
          <a:prstGeom prst="wedgeRoundRectCallout">
            <a:avLst>
              <a:gd name="adj1" fmla="val -61522"/>
              <a:gd name="adj2" fmla="val 7091"/>
              <a:gd name="adj3" fmla="val 16667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相同數字</a:t>
            </a:r>
            <a:r>
              <a:rPr lang="zh-TW" altLang="en-US" sz="1600" b="1" dirty="0" smtClean="0">
                <a:solidFill>
                  <a:srgbClr val="FF0000"/>
                </a:solidFill>
                <a:latin typeface="微軟正黑體" pitchFamily="34" charset="-120"/>
                <a:ea typeface="微軟正黑體" pitchFamily="34" charset="-120"/>
              </a:rPr>
              <a:t>不同顏色</a:t>
            </a:r>
            <a:r>
              <a:rPr lang="zh-TW" altLang="en-US" sz="16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不可湊對 </a:t>
            </a:r>
            <a:r>
              <a:rPr lang="zh-TW" altLang="en-US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╳</a:t>
            </a:r>
            <a:endParaRPr lang="zh-TW" altLang="en-US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765981"/>
            <a:ext cx="292983" cy="292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圓角矩形 49"/>
          <p:cNvSpPr/>
          <p:nvPr/>
        </p:nvSpPr>
        <p:spPr>
          <a:xfrm>
            <a:off x="2410247" y="5098771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51" name="圓角矩形 50"/>
          <p:cNvSpPr/>
          <p:nvPr/>
        </p:nvSpPr>
        <p:spPr>
          <a:xfrm>
            <a:off x="2944788" y="5728561"/>
            <a:ext cx="238125" cy="33337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TW" altLang="en-US"/>
          </a:p>
        </p:txBody>
      </p:sp>
      <p:sp>
        <p:nvSpPr>
          <p:cNvPr id="52" name="矩形 51"/>
          <p:cNvSpPr/>
          <p:nvPr/>
        </p:nvSpPr>
        <p:spPr>
          <a:xfrm>
            <a:off x="4479714" y="4477762"/>
            <a:ext cx="3752800" cy="1656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圓角矩形 52"/>
          <p:cNvSpPr/>
          <p:nvPr/>
        </p:nvSpPr>
        <p:spPr>
          <a:xfrm>
            <a:off x="1331640" y="4477762"/>
            <a:ext cx="238125" cy="3333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b="1" dirty="0" smtClean="0">
                <a:solidFill>
                  <a:schemeClr val="tx1"/>
                </a:solidFill>
              </a:rPr>
              <a:t>2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4" name="圓角矩形 53"/>
          <p:cNvSpPr/>
          <p:nvPr/>
        </p:nvSpPr>
        <p:spPr>
          <a:xfrm>
            <a:off x="4045842" y="5728560"/>
            <a:ext cx="238125" cy="3333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b="1" dirty="0" smtClean="0">
                <a:solidFill>
                  <a:schemeClr val="tx1"/>
                </a:solidFill>
              </a:rPr>
              <a:t>2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5" name="圓角矩形 54"/>
          <p:cNvSpPr/>
          <p:nvPr/>
        </p:nvSpPr>
        <p:spPr>
          <a:xfrm>
            <a:off x="2944786" y="5103626"/>
            <a:ext cx="238125" cy="3333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b="1" dirty="0" smtClean="0">
                <a:solidFill>
                  <a:schemeClr val="tx1"/>
                </a:solidFill>
              </a:rPr>
              <a:t>7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6" name="圓角矩形 55"/>
          <p:cNvSpPr/>
          <p:nvPr/>
        </p:nvSpPr>
        <p:spPr>
          <a:xfrm>
            <a:off x="3498379" y="5098770"/>
            <a:ext cx="238125" cy="3333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b="1" dirty="0" smtClean="0">
                <a:solidFill>
                  <a:schemeClr val="tx1"/>
                </a:solidFill>
              </a:rPr>
              <a:t>7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7" name="圓角矩形 56"/>
          <p:cNvSpPr/>
          <p:nvPr/>
        </p:nvSpPr>
        <p:spPr>
          <a:xfrm>
            <a:off x="1331640" y="5729493"/>
            <a:ext cx="238125" cy="33337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b="1" dirty="0" smtClean="0">
                <a:solidFill>
                  <a:schemeClr val="tx1"/>
                </a:solidFill>
              </a:rPr>
              <a:t>1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8" name="圓角矩形 57"/>
          <p:cNvSpPr/>
          <p:nvPr/>
        </p:nvSpPr>
        <p:spPr>
          <a:xfrm>
            <a:off x="1325235" y="5103626"/>
            <a:ext cx="238125" cy="3333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zh-TW" b="1" dirty="0">
                <a:solidFill>
                  <a:srgbClr val="FF0000"/>
                </a:solidFill>
              </a:rPr>
              <a:t>J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59" name="圓角矩形圖說文字 58"/>
          <p:cNvSpPr/>
          <p:nvPr/>
        </p:nvSpPr>
        <p:spPr>
          <a:xfrm>
            <a:off x="4992154" y="4477762"/>
            <a:ext cx="3240360" cy="1251731"/>
          </a:xfrm>
          <a:prstGeom prst="wedgeRoundRectCallout">
            <a:avLst>
              <a:gd name="adj1" fmla="val -60477"/>
              <a:gd name="adj2" fmla="val -124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順利湊對可以繼續翻牌</a:t>
            </a:r>
            <a:endParaRPr lang="en-US" altLang="zh-TW" b="1" dirty="0" smtClean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直到失敗為止</a:t>
            </a:r>
          </a:p>
        </p:txBody>
      </p:sp>
    </p:spTree>
    <p:extLst>
      <p:ext uri="{BB962C8B-B14F-4D97-AF65-F5344CB8AC3E}">
        <p14:creationId xmlns:p14="http://schemas.microsoft.com/office/powerpoint/2010/main" val="114192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39" grpId="0" animBg="1"/>
      <p:bldP spid="45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192267" y="66307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 smtClean="0">
                <a:latin typeface="微軟正黑體" pitchFamily="34" charset="-120"/>
                <a:ea typeface="微軟正黑體" pitchFamily="34" charset="-120"/>
              </a:rPr>
              <a:t>數字炸彈</a:t>
            </a:r>
            <a:endParaRPr lang="zh-TW" altLang="en-US" sz="24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736364"/>
            <a:ext cx="292983" cy="292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827584" y="1196752"/>
            <a:ext cx="777686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A.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數字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1~13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的撲克牌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組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(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不限花色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隨機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洗牌後，各組派</a:t>
            </a:r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人上來抽</a:t>
            </a:r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張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B.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各自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拿在頭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上不可讓自己</a:t>
            </a:r>
            <a:r>
              <a:rPr lang="zh-TW" altLang="zh-TW" sz="1400" b="1" dirty="0" smtClean="0">
                <a:latin typeface="微軟正黑體" pitchFamily="34" charset="-120"/>
                <a:ea typeface="微軟正黑體" pitchFamily="34" charset="-120"/>
              </a:rPr>
              <a:t>知道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，隊友不可提示。</a:t>
            </a:r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B.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主持人隨機指名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4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人中的其中一人開始，開始的人隨機喊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1~13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其中一個數字。</a:t>
            </a:r>
          </a:p>
          <a:p>
            <a:pPr lvl="0"/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C.</a:t>
            </a:r>
            <a:r>
              <a:rPr lang="zh-TW" altLang="zh-TW" sz="1400" b="1" dirty="0">
                <a:latin typeface="微軟正黑體" pitchFamily="34" charset="-120"/>
                <a:ea typeface="微軟正黑體" pitchFamily="34" charset="-120"/>
              </a:rPr>
              <a:t>後面接續喊的人可以喊前一人數字的</a:t>
            </a:r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>+1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~+3(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一個數字即可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)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D.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喊到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13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再重新回到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，例：前一人喊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12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，接續可喊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13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、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2</a:t>
            </a:r>
            <a:r>
              <a:rPr lang="zh-TW" altLang="en-US" sz="1400" b="1" dirty="0">
                <a:latin typeface="微軟正黑體" pitchFamily="34" charset="-120"/>
                <a:ea typeface="微軟正黑體" pitchFamily="34" charset="-120"/>
              </a:rPr>
              <a:t>其中一數字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。</a:t>
            </a:r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</a:br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E.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喊到自己的數字則淘汰，替補新隊員後重新洗牌開始，直到有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組的人全部淘汰則結束該回合。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F.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採積分制，最先全滅的隊伍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+0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，依此類推，整個遊戲進行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3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回合。</a:t>
            </a:r>
          </a:p>
        </p:txBody>
      </p:sp>
      <p:pic>
        <p:nvPicPr>
          <p:cNvPr id="10" name="Picture 5" descr="5,687,019 張People icon 圖片、庫存照片和向量圖| Shutte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0" t="15484" r="20513" b="21448"/>
          <a:stretch/>
        </p:blipFill>
        <p:spPr bwMode="auto">
          <a:xfrm>
            <a:off x="1907704" y="5204617"/>
            <a:ext cx="701570" cy="81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5" descr="5,687,019 張People icon 圖片、庫存照片和向量圖| Shutte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0" t="15484" r="20513" b="21448"/>
          <a:stretch/>
        </p:blipFill>
        <p:spPr bwMode="auto">
          <a:xfrm>
            <a:off x="3419872" y="5204616"/>
            <a:ext cx="701570" cy="81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5" descr="5,687,019 張People icon 圖片、庫存照片和向量圖| Shutte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0" t="15484" r="20513" b="21448"/>
          <a:stretch/>
        </p:blipFill>
        <p:spPr bwMode="auto">
          <a:xfrm>
            <a:off x="4950550" y="5204616"/>
            <a:ext cx="701570" cy="81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5" descr="5,687,019 張People icon 圖片、庫存照片和向量圖| Shutterstock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40" t="15484" r="20513" b="21448"/>
          <a:stretch/>
        </p:blipFill>
        <p:spPr bwMode="auto">
          <a:xfrm>
            <a:off x="6462718" y="5204615"/>
            <a:ext cx="701570" cy="81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橢圓形圖說文字 3"/>
          <p:cNvSpPr/>
          <p:nvPr/>
        </p:nvSpPr>
        <p:spPr>
          <a:xfrm>
            <a:off x="2044169" y="4340523"/>
            <a:ext cx="799639" cy="720078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chemeClr val="tx1"/>
                </a:solidFill>
              </a:rPr>
              <a:t>3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5" name="圓角矩形 4"/>
          <p:cNvSpPr/>
          <p:nvPr/>
        </p:nvSpPr>
        <p:spPr>
          <a:xfrm>
            <a:off x="2044169" y="6080103"/>
            <a:ext cx="436999" cy="55234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6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17" name="圓角矩形 16"/>
          <p:cNvSpPr/>
          <p:nvPr/>
        </p:nvSpPr>
        <p:spPr>
          <a:xfrm>
            <a:off x="3552157" y="6080103"/>
            <a:ext cx="436999" cy="55234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2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5082835" y="6080103"/>
            <a:ext cx="436999" cy="55234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9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6595003" y="6080103"/>
            <a:ext cx="436999" cy="552349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K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20" name="橢圓形圖說文字 19"/>
          <p:cNvSpPr/>
          <p:nvPr/>
        </p:nvSpPr>
        <p:spPr>
          <a:xfrm>
            <a:off x="3552157" y="4340523"/>
            <a:ext cx="799639" cy="720078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6</a:t>
            </a:r>
            <a:endParaRPr lang="zh-TW" altLang="en-US" sz="2400" b="1" dirty="0">
              <a:solidFill>
                <a:schemeClr val="tx1"/>
              </a:solidFill>
            </a:endParaRPr>
          </a:p>
        </p:txBody>
      </p:sp>
      <p:sp>
        <p:nvSpPr>
          <p:cNvPr id="21" name="橢圓形圖說文字 20"/>
          <p:cNvSpPr/>
          <p:nvPr/>
        </p:nvSpPr>
        <p:spPr>
          <a:xfrm>
            <a:off x="5082835" y="4340523"/>
            <a:ext cx="799639" cy="720078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 smtClean="0">
                <a:solidFill>
                  <a:schemeClr val="tx1"/>
                </a:solidFill>
              </a:rPr>
              <a:t>9</a:t>
            </a:r>
            <a:endParaRPr lang="zh-TW" altLang="en-US" b="1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07704" y="4221089"/>
            <a:ext cx="1080120" cy="936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3455601" y="4221089"/>
            <a:ext cx="1080120" cy="936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加號 14"/>
          <p:cNvSpPr/>
          <p:nvPr/>
        </p:nvSpPr>
        <p:spPr>
          <a:xfrm rot="2748061">
            <a:off x="4475782" y="4785094"/>
            <a:ext cx="1651108" cy="1655715"/>
          </a:xfrm>
          <a:prstGeom prst="mathPlus">
            <a:avLst>
              <a:gd name="adj1" fmla="val 1103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42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" grpId="0" animBg="1"/>
      <p:bldP spid="21" grpId="0" animBg="1"/>
      <p:bldP spid="6" grpId="0" animBg="1"/>
      <p:bldP spid="2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408291" y="692696"/>
            <a:ext cx="1723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 smtClean="0">
                <a:latin typeface="微軟正黑體" pitchFamily="34" charset="-120"/>
                <a:ea typeface="微軟正黑體" pitchFamily="34" charset="-120"/>
              </a:rPr>
              <a:t>冰壺撲克牌</a:t>
            </a:r>
            <a:endParaRPr lang="zh-TW" altLang="en-US" sz="24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765981"/>
            <a:ext cx="292983" cy="292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1043608" y="1294309"/>
            <a:ext cx="7776864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A.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採一組一組進行，整副撲克牌先盲抽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25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張，不可偷看數字。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B.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從起跑線後滑蓋著的撲克牌，目標滑進桌上標記好的框框內。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>
                <a:latin typeface="微軟正黑體" pitchFamily="34" charset="-120"/>
                <a:ea typeface="微軟正黑體" pitchFamily="34" charset="-120"/>
              </a:rPr>
              <a:t>C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可一人滑一張輪流，也可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25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張先分好再輪流，以不破壞每個人都要輪到為原則。</a:t>
            </a:r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D.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手上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25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張撲克牌全部都用完後，結算在框框內的撲克牌數字加總。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E.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在框框內的撲克牌要至少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50%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面積以上才算，可壓線，最終依主持人判定為標準。</a:t>
            </a:r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F.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一張鬼牌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=20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分，其他牌照常理算分。</a:t>
            </a:r>
          </a:p>
          <a:p>
            <a:pPr lvl="0"/>
            <a:endParaRPr lang="en-US" altLang="zh-TW" sz="1400" b="1" dirty="0" smtClean="0">
              <a:latin typeface="微軟正黑體" pitchFamily="34" charset="-120"/>
              <a:ea typeface="微軟正黑體" pitchFamily="34" charset="-120"/>
            </a:endParaRPr>
          </a:p>
          <a:p>
            <a:pPr lvl="0"/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G.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以數字加總大到小的排序分出</a:t>
            </a:r>
            <a:r>
              <a:rPr lang="en-US" altLang="zh-TW" sz="1400" b="1" dirty="0" smtClean="0">
                <a:latin typeface="微軟正黑體" pitchFamily="34" charset="-120"/>
                <a:ea typeface="微軟正黑體" pitchFamily="34" charset="-120"/>
              </a:rPr>
              <a:t>1~4</a:t>
            </a:r>
            <a:r>
              <a:rPr lang="zh-TW" altLang="en-US" sz="1400" b="1" dirty="0" smtClean="0">
                <a:latin typeface="微軟正黑體" pitchFamily="34" charset="-120"/>
                <a:ea typeface="微軟正黑體" pitchFamily="34" charset="-120"/>
              </a:rPr>
              <a:t>名進行加分。</a:t>
            </a:r>
            <a:endParaRPr lang="en-US" altLang="zh-TW" sz="14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99792" y="4432730"/>
            <a:ext cx="3960440" cy="15841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圓角矩形 3"/>
          <p:cNvSpPr/>
          <p:nvPr/>
        </p:nvSpPr>
        <p:spPr>
          <a:xfrm>
            <a:off x="5724128" y="4888231"/>
            <a:ext cx="576064" cy="59958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/>
          <p:nvPr/>
        </p:nvCxnSpPr>
        <p:spPr>
          <a:xfrm>
            <a:off x="3131840" y="4432730"/>
            <a:ext cx="0" cy="158417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圓角矩形圖說文字 12"/>
          <p:cNvSpPr/>
          <p:nvPr/>
        </p:nvSpPr>
        <p:spPr>
          <a:xfrm>
            <a:off x="3016884" y="6205003"/>
            <a:ext cx="792088" cy="320341"/>
          </a:xfrm>
          <a:prstGeom prst="wedgeRoundRectCallout">
            <a:avLst>
              <a:gd name="adj1" fmla="val -33056"/>
              <a:gd name="adj2" fmla="val -9197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起跑線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4105" name="Picture 9" descr="黑桃扑克牌黑杰克黑桃图标免费下载-图标lyyqvvpn-88ICON图标网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1" t="406" r="19099"/>
          <a:stretch/>
        </p:blipFill>
        <p:spPr bwMode="auto">
          <a:xfrm rot="16200000" flipV="1">
            <a:off x="2622304" y="4979733"/>
            <a:ext cx="298990" cy="49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圓角矩形圖說文字 20"/>
          <p:cNvSpPr/>
          <p:nvPr/>
        </p:nvSpPr>
        <p:spPr>
          <a:xfrm>
            <a:off x="1259632" y="4898042"/>
            <a:ext cx="792088" cy="653551"/>
          </a:xfrm>
          <a:prstGeom prst="wedgeRoundRectCallout">
            <a:avLst>
              <a:gd name="adj1" fmla="val 85102"/>
              <a:gd name="adj2" fmla="val -63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要</a:t>
            </a:r>
            <a:r>
              <a:rPr lang="zh-TW" altLang="en-US" sz="1400" b="1" dirty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蓋著</a:t>
            </a:r>
          </a:p>
        </p:txBody>
      </p:sp>
      <p:sp>
        <p:nvSpPr>
          <p:cNvPr id="22" name="圓角矩形圖說文字 21"/>
          <p:cNvSpPr/>
          <p:nvPr/>
        </p:nvSpPr>
        <p:spPr>
          <a:xfrm>
            <a:off x="6948264" y="4898042"/>
            <a:ext cx="1512168" cy="663362"/>
          </a:xfrm>
          <a:prstGeom prst="wedgeRoundRectCallout">
            <a:avLst>
              <a:gd name="adj1" fmla="val -83371"/>
              <a:gd name="adj2" fmla="val -112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 smtClean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rPr>
              <a:t>到框內才算得分</a:t>
            </a:r>
            <a:endParaRPr lang="zh-TW" altLang="en-US" sz="1400" b="1" dirty="0">
              <a:solidFill>
                <a:schemeClr val="tx1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825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6.56951E-7 L 0.35435 -6.56951E-7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0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3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Office 佈景主題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427</Words>
  <Application>Microsoft Office PowerPoint</Application>
  <PresentationFormat>如螢幕大小 (4:3)</PresentationFormat>
  <Paragraphs>63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41</cp:revision>
  <dcterms:created xsi:type="dcterms:W3CDTF">2022-10-24T03:58:11Z</dcterms:created>
  <dcterms:modified xsi:type="dcterms:W3CDTF">2022-10-24T10:09:01Z</dcterms:modified>
</cp:coreProperties>
</file>